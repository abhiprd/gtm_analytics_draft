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GTM health metric tree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  ·   Efficiency   ·   Durability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402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24028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pillars, one hierarchy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215798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206654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revenue growth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+ New logo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Contraction − Churn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Expansion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215798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2312" y="206654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touch model paying for itself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4747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 number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Consumption payback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Onboarding/CS efficiency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215798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77072" y="206654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we sold sticking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747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NRR · GRR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 retention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— consumption revenue growth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+ New logo − Contraction − Churn + Expansion (± segment migration, nets to zero)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56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196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consumption revenue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500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sales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Pipeline generated × win rate × avg initial commitment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90088"/>
            <a:ext cx="22402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initial commitment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overlays: handoff quality, brand &amp; awareness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856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1071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18196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1488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Product/CS — shared driver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Days provisioning → first production Action (TTFA), by segment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807208"/>
            <a:ext cx="224028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completion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Time-to-first-integration / first successful run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Quickstart/docs content engagement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856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963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18196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consumption revenue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3500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Wallet share progression × overage realization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990088"/>
            <a:ext cx="22402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share progression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realization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2396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88552" y="1856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8855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18196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+ churned revenue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23500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Driven by account health decline and lost renewals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006840" y="2990088"/>
            <a:ext cx="22402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chain under-utilization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health score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dip vs. structural churn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win rate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› NEW LOGO CONSUMPTION REVENUE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generated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Σ over channels (channel volume × channel-to-lead rate × lead-to-PQL rate)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56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19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/ content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148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/ SEO team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 growth, by source (docs, blog, SEO)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publish velocity and engagement per piece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traffic → signup conversion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vs. non-branded organic search split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ranking movement for target keywords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856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655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19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148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 / paid media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42316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CPL/CPC/CPM by campaign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 rate (click → signup/lead)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pipeline ROAS (pipeline $ ÷ spend)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856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1131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819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events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148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DevRel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423160"/>
            <a:ext cx="32004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active-member growth (Slack/Discord)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Event/webinar attendance and event-sourced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Community-to-paid conversion rate (prospects)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166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SDR and segment-graduation volume tracked separately — see win rate and the migration branch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› NEW LOGO CONSUMPTION REVENUE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rate, commitment, and overlays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819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453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74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/ AE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won ÷ (won + lost), new-business only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32888"/>
            <a:ext cx="5074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Stage-to-stage conversion (SAL→SQO→POC→Proposal→Close)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pass rate (Enterprise)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capacity / ramp mix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Loss-reason mix (competitive / no-decision / price)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6792" y="15819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3679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5453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initial commitment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874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48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Realized deal size at close, by segment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532888"/>
            <a:ext cx="5074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vs. list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Deal-size trend within segment band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3251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2885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Marketing–sales handoff quality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81888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ops + sales ops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7492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 response SLA (time to first sales touch)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 → SAL acceptance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recycling / nurture re-qualification rate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82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overlay — not a multiplicative factor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416052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432511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36792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2885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awareness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70916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search volume trend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traffic share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 vs. named competitors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6382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 — not summed into pipeline math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and expansion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819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45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CS — shared driver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Days from provisioning to first production Action (TTFA), by segment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32888"/>
            <a:ext cx="493776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completion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Time-to-first-integration / first successful run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Quickstart/docs content engagement rate — content/docs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5819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9963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545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consumption revenue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0756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Wallet share progression × overage realization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46888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63347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963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5968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share progression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926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/ product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0040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migration rate (new processes onboarded/qtr)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touch effectiveness (recommitment conversations)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Existing-account community engagement depth — community/DevRel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4480560"/>
            <a:ext cx="5669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6451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99632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608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realization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9377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/ billing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5212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Overage billing realized against usage crossing committed minimums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Contraction + churned consumption revenue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Driven by account health decline and lost renewals, by segment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5623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196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chain under-utilization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500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AM — silent-churn proxy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06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 Actions occur, downstream Actions sit idle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9008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Ingestion-without-completion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Mid-chain workflow abandonment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share of full-chain vs. partial-chain runs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2" y="185623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3679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8196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health score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24028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 (account-relative baseline)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volume / severity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/ login frequency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sentiment notes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32511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2885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dip vs. structural churn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81888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AM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074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to the account's own baseline or cohort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5896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Account-specific baseline deviation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comparison (same account type, same period last cycle)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16052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432511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36792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42885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win rate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6177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opportunity_type = renewal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89204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Time-to-respond on churn-risk flag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(explicit cancellation) vs. silent (non-renewal) mix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— is the touch model paying for itself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819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45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745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Net new ARR ÷ prior-period S&amp;M cost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32888"/>
            <a:ext cx="22402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channel activity (cost/MQL, cost/SDR meeting)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fully-loaded cost, incl. ramp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allocation by channel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48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covered under Growth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5819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1071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1545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payback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18745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 — utilized Actions only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CAC ÷ utilized-Action margin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532888"/>
            <a:ext cx="22402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by channel (unblended)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Utilized vs. committed Action volume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5148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flat gross margin assumed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5819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9963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1545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/ CS efficiency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8745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/ CS, by segment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Manual touchpoints ÷ automated Actions delivered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532888"/>
            <a:ext cx="224028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touchpoint volume (book size, ramp, cadence)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Action volume delivered (usage growth, account count)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14173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88552" y="15819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88552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1545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efficiency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18745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AM, by segment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00684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Expansion revenue ÷ AM cost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2532888"/>
            <a:ext cx="22402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Growth — expansion revenue drivers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cost by segment (comp, ramp status, book size)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5148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covered under Growth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 — is what we sold sticking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3774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254203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054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(Start − Contraction − Churn + Expansion) ÷ Start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93008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Growth — expansion, contraction, churn drivers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254203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552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5054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(Start − Contraction − Churn) ÷ Start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493008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Growth — contraction, churn drivers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3774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2542032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11312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25054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segment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Retained accounts ÷ starting accounts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493008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Tenure-at-churn (early vs. late lifecycle)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reason category (loud vs. silent)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GTM readout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  August 24 – August 30,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 Chief Revenue Officer · GTM leadership 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546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NRR are both ahead of plan on Enterprise wallet-share growth. New logo ARR missed plan by 12% — Enterprise win rate dropped to 24%, and it's a POC problem, not competitive loss. Consumption payback lengthened to 14.2 months: paid-channel CAC actually fell 6% on stronger organic-assisted conversion, offset by higher SE cost onboarding two large Enterprise accounts through POC.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Contraction/churn came in $15K worse than plan — one Enterprise account cut its committed Action volume at renewal; AM notes cite internal resistance to retiring a legacy scheduler despite a completed technical migration.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readout — Acme Corp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Aug 24,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consumption revenue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47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$185K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31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$210K plan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47802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B23A2F">
              <a:alpha val="1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4780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(TTFA, blended)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947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days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331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2.4d last month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47802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F8A54">
              <a:alpha val="1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24780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consumption revenue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947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$310K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331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$290K plan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47802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F8A54">
              <a:alpha val="1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24780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23960" y="1600200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+ churned revenue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1947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−$95K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2331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−$80K plan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61120" y="247802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B23A2F">
              <a:alpha val="1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0" y="24780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300984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392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 (blended)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6484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0325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0.75 plan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417880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F8A54">
              <a:alpha val="15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41788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46120" y="3300984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83280" y="3392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payback (blended)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383280" y="36484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 mo</a:t>
            </a:r>
            <a:endParaRPr lang="en-US" sz="2100" dirty="0"/>
          </a:p>
        </p:txBody>
      </p:sp>
      <p:sp>
        <p:nvSpPr>
          <p:cNvPr id="39" name="Text 37"/>
          <p:cNvSpPr txBox="1"/>
          <p:nvPr/>
        </p:nvSpPr>
        <p:spPr>
          <a:xfrm>
            <a:off x="3383280" y="40325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13.0mo plan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83280" y="417880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B23A2F">
              <a:alpha val="15000"/>
            </a:srgb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383280" y="41788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35040" y="3300984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3392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Onboarding/CS efficiency (blended)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36484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71.4K</a:t>
            </a:r>
            <a:endParaRPr lang="en-US" sz="2100" dirty="0"/>
          </a:p>
        </p:txBody>
      </p:sp>
      <p:sp>
        <p:nvSpPr>
          <p:cNvPr id="45" name="Text 43"/>
          <p:cNvSpPr txBox="1"/>
          <p:nvPr/>
        </p:nvSpPr>
        <p:spPr>
          <a:xfrm>
            <a:off x="6172200" y="40325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Actions/touch, vs. 66.0K plan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72200" y="417880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F8A54">
              <a:alpha val="15000"/>
            </a:srgbClr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172200" y="41788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823960" y="3300984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61120" y="3392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efficiency (blended)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961120" y="36484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4.2x</a:t>
            </a:r>
            <a:endParaRPr lang="en-US" sz="2100" dirty="0"/>
          </a:p>
        </p:txBody>
      </p:sp>
      <p:sp>
        <p:nvSpPr>
          <p:cNvPr id="51" name="Text 49"/>
          <p:cNvSpPr txBox="1"/>
          <p:nvPr/>
        </p:nvSpPr>
        <p:spPr>
          <a:xfrm>
            <a:off x="8961120" y="40325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ARR/AM cost, vs. 3.8x plan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961120" y="417880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F8A54">
              <a:alpha val="15000"/>
            </a:srgbClr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961120" y="41788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5001768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4360" y="5093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594360" y="5349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121%</a:t>
            </a:r>
            <a:endParaRPr lang="en-US" sz="2100" dirty="0"/>
          </a:p>
        </p:txBody>
      </p:sp>
      <p:sp>
        <p:nvSpPr>
          <p:cNvPr id="58" name="Text 56"/>
          <p:cNvSpPr txBox="1"/>
          <p:nvPr/>
        </p:nvSpPr>
        <p:spPr>
          <a:xfrm>
            <a:off x="594360" y="5733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119% plan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4360" y="587959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F8A54">
              <a:alpha val="15000"/>
            </a:srgbClr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94360" y="58795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51960" y="5001768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389120" y="5093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4389120" y="5349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2100" dirty="0"/>
          </a:p>
        </p:txBody>
      </p:sp>
      <p:sp>
        <p:nvSpPr>
          <p:cNvPr id="64" name="Text 62"/>
          <p:cNvSpPr txBox="1"/>
          <p:nvPr/>
        </p:nvSpPr>
        <p:spPr>
          <a:xfrm>
            <a:off x="4389120" y="5733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94% plan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389120" y="587959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B23A2F">
              <a:alpha val="15000"/>
            </a:srgbClr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389120" y="58795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046720" y="5001768"/>
            <a:ext cx="35661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183880" y="5093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8183880" y="5349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97.2%</a:t>
            </a:r>
            <a:endParaRPr lang="en-US" sz="2100" dirty="0"/>
          </a:p>
        </p:txBody>
      </p:sp>
      <p:sp>
        <p:nvSpPr>
          <p:cNvPr id="70" name="Text 68"/>
          <p:cNvSpPr txBox="1"/>
          <p:nvPr/>
        </p:nvSpPr>
        <p:spPr>
          <a:xfrm>
            <a:off x="8183880" y="5733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97.0% plan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183880" y="587959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6B7280">
              <a:alpha val="15000"/>
            </a:srgbClr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183880" y="58795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READOUT — ACME CORP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drill-downs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4416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298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consumption revenue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27632"/>
            <a:ext cx="105613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$185K vs. $210K plan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23872"/>
            <a:ext cx="105613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generated and avg initial commitment are within 2% of plan; win rate is the outlier — 24% this week vs. 31% trailing 8-week average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20112"/>
            <a:ext cx="105613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siblings under win rate — POC pass rate dropped 68% → 54%; separately, 3 of the last 5 losses are coded no-decision, not competitive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12471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17296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1272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+ churned revenue  (also this week's GRR driver)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456432"/>
            <a:ext cx="105613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−$95K vs. −$80K plan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52672"/>
            <a:ext cx="105613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chain under-utilization, account health score, and cyclical/structural churn are within normal range; renewal win rate is the outlier — 78% of renewal-weighted $ retained vs. an 85% trailing average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248912"/>
            <a:ext cx="105613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time-to-respond was within SLA; the mix leans loud — one Enterprise account's explicit reduction, citing internal resistance to retiring a legacy scheduler despite a completed technical migration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50017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956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payback  (tree stops at layer 2 here)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285232"/>
            <a:ext cx="10561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months vs. 13.0mo plan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719572"/>
            <a:ext cx="10561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by channel is the outlier — Enterprise-channel CAC rose from added SE time on two POC-heavy deals, while paid-channel CAC fell 6%; utilized-vs-committed Action volume is flat vs. plan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2026-09-05T18:37:59Z</dcterms:created>
  <dcterms:modified xsi:type="dcterms:W3CDTF">2026-09-05T18:37:59Z</dcterms:modified>
</cp:coreProperties>
</file>